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BEOL 分析戰報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2026/10/12 01:07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FAB15  vs  FAB18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資料：WAT_FAB_compare.xlsx　｜　期間：2026/04/01 ～ 2026/10/01　｜　wafer 數：FAB18 3,174、FAB15 397　｜　分組：Part6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3636264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94560"/>
            <a:ext cx="3270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  </a:t>
            </a:r>
            <a:pPr indent="0" marL="0">
              <a:buNone/>
            </a:pPr>
            <a:r>
              <a:rPr lang="en-US" sz="1300" b="1" dirty="0">
                <a:solidFill>
                  <a:srgbClr val="B4410A"/>
                </a:solidFill>
                <a:highlight>
                  <a:srgbClr val="FDEBD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橘 3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highlight>
                  <a:srgbClr val="FFF4C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黃 3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highlight>
                  <a:srgbClr val="E3F5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綠 25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98A2B3"/>
                </a:solidFill>
                <a:highlight>
                  <a:srgbClr val="F0F2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灰 1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3270504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41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SPA_M12 @ TMRX12 +16.2%pt · SPA_M13 @ TMRX12 +8.0%pt · Rc_V12 @ TMTQ11 +2.33σ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8A5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LK_M12 @ TMRX12 ×2.96 · Con_M13 @ TMWF54 +1.38σ · SPA_M13 @ TMWF54 +2.9%pt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76344" y="2057400"/>
            <a:ext cx="3636264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9224" y="2194560"/>
            <a:ext cx="3270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  </a:t>
            </a:r>
            <a:pPr indent="0" marL="0">
              <a:buNone/>
            </a:pPr>
            <a:r>
              <a:rPr lang="en-US" sz="1300" b="1" dirty="0">
                <a:solidFill>
                  <a:srgbClr val="B4410A"/>
                </a:solidFill>
                <a:highlight>
                  <a:srgbClr val="FDEBD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橘 3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highlight>
                  <a:srgbClr val="FFF4C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黃 0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highlight>
                  <a:srgbClr val="E3F5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綠 21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highlight>
                  <a:srgbClr val="FFF4C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變異 2 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59224" y="2743200"/>
            <a:ext cx="3270504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41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 CD AEI @ TMTQ11 −2.79σ · M12 CD AEI @ TMRX12 +2.18σ · M13 THK @ TMWF54 −1.63σ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8A5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 CD AEI @ TMTQ11 W2W σ ×1.46 · M12 CD AEI @ TMWF54 W2W σ ×1.42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86928" y="2057400"/>
            <a:ext cx="3636264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9808" y="2194560"/>
            <a:ext cx="3270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  </a:t>
            </a:r>
            <a:pPr indent="0" marL="0">
              <a:buNone/>
            </a:pPr>
            <a:r>
              <a:rPr lang="en-US" sz="1300" b="1" dirty="0">
                <a:solidFill>
                  <a:srgbClr val="B4410A"/>
                </a:solidFill>
                <a:highlight>
                  <a:srgbClr val="FDEBD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橘 1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highlight>
                  <a:srgbClr val="FFF4C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黃 2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highlight>
                  <a:srgbClr val="E3F5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綠 9 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9808" y="2743200"/>
            <a:ext cx="3270504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441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Bin7_open @ TMTQ11 +2.25σ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8A5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@ TMTQ11 −1.29σ · Bin3_short @ TMRX12 +1.29σ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判斷：K = (Mean CIP − Mean BSL) / σ BSL，綠 ≤ 1σ、橘 &gt; 1.5σ；LK median 倍數 綠 ≤ ×2、橘 &gt; ×5；SPA 異常率差 綠 ≤ 2%pt、橘 &gt; 5%pt；Inline σ 倍數 綠 ≤ ×1.3、橘 &gt; ×1.6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點燈表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Part6 分組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2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7772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463040"/>
                <a:gridCol w="146304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WAT item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Part6 →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TMRF89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TMRX12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TMTQ11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TMWF54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Rs（金屬線阻值）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Con_M12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−0.57σ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−0.88σ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−0.29σ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+0.22σ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Con_M13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+0.38σ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−0.35σ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+0.13σ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+1.38σ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LK（線間漏電）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LK_M12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×1.19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×2.96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×0.92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×0.99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LK_M13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×0.71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×1.36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×1.20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×1.12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Rc（Via／Contact 阻值）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Rc_V11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−0.43σ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+0.29σ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+0.26σ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−0.10σ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Rc_V12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−0.08σ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−0.31σ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41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+2.33σ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−0.09σ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SPA（線間漏電，電壓輸出）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SPA_M12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−0.8%pt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41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+16.2%pt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−1.7%pt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−0.3%pt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SPA_M13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8A2B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41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+8.0%pt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−0.8%pt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+2.9%pt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58200" y="868680"/>
            <a:ext cx="3364992" cy="1371600"/>
          </a:xfrm>
          <a:prstGeom prst="roundRect">
            <a:avLst>
              <a:gd name="adj" fmla="val 666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941832"/>
            <a:ext cx="3090672" cy="1225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441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— 需關注（3）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SPA_M12 @ TMRX12 · SPA_M13 @ TMRX12 · Rc_V12 @ TMTQ11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458200" y="2377440"/>
            <a:ext cx="3364992" cy="1371600"/>
          </a:xfrm>
          <a:prstGeom prst="roundRect">
            <a:avLst>
              <a:gd name="adj" fmla="val 6667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0" y="2450592"/>
            <a:ext cx="3090672" cy="1225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 — 觀察（3）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LK_M12 @ TMRX12 · Con_M13 @ TMWF54 · SPA_M13 @ TMWF54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458200" y="3886200"/>
            <a:ext cx="3364992" cy="137160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0" y="3959352"/>
            <a:ext cx="3090672" cy="1225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讀法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TMRX12 佔 3 格異常，集中在 M12、M13 → 先看這一組的 HL 與同層 inline。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5760" y="519379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 = K-shift（σ）；LK 為 median 倍數（×）；SPA 為異常率差（%pt）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HL 總表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有關聯　△ 弱／部分　✘ 未對上　○ 缺資料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3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1145743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011680"/>
                <a:gridCol w="822960"/>
                <a:gridCol w="1481328"/>
                <a:gridCol w="1481328"/>
                <a:gridCol w="1481328"/>
                <a:gridCol w="1481328"/>
                <a:gridCol w="21945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WAT item @ 組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偏移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Inline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鄰層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Yield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441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橘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SPA_M12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@ TMRX12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41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+16.2%pt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M12 CD AEI +2.18σ 有關聯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V12_ETCH_CH：CH_A −0.21σ（CIP 57% 走 CH_A，n 27）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Bin3_short +1.29σ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M12 trench CD（AEI）→ 換算 space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441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橘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SPA_M13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@ TMRX12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41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+8.0%pt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M13 CD AEI +0.66σ 有關聯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✘ M12 THK +0.22σ 未偏移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✘ 3 個機台欄皆無集中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Bin3_short +1.29σ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M13 trench CD（AEI）→ 換算 space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441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橘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Rc_V12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@ TMTQ11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41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+2.33σ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V12 CD AEI −2.79σ（r = −0.84） 有關聯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✘ M12 THK +0.26σ、M13 THK −0.25σ… 未偏移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V12_ETCH_CH：CH_B +3.55σ（CIP 50% 走 CH_B，n 40）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Yield −1.29σ、Bin7_open +2.25σ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V12 via CD（ADI／AEI）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黃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LK_M12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@ TMRX12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5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×2.96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M12 CD AEI +2.18σ（r = 0.81） 有關聯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△ V12_ETCH_CH 2/2 台皆偏（非 tool-specific）→ 查上游製程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Bin3_short +1.29σ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M12 trench CD（AEI）→ 換算 space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黃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Con_M13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@ TMWF54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5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+1.38σ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M13 THK −1.63σ（r = −0.87） 有關聯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✘ M12 THK −0.21σ 未偏移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✘ 3 個機台欄皆無集中（M12_CMP_Tool 與條件混淆）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✘ yield／bin 未亮燈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M13 post-CMP THK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黃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SPA_M13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@ TMWF54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5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+2.9%pt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✘ M13 CD AEI +0.20σ 未偏移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✘ M12 THK −0.21σ 未偏移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✘ 3 個機台欄皆無集中（M12_CMP_Tool 與條件混淆）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✘ yield／bin 未亮燈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✘ M13 trench CD（AEI）→ 換算 space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HL｜SPA_M12 @ TMRX12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橘燈　+16.2%pt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2296" cy="384048"/>
          </a:xfrm>
          <a:prstGeom prst="rect">
            <a:avLst/>
          </a:prstGeom>
          <a:solidFill>
            <a:srgbClr val="B4410A"/>
          </a:solidFill>
          <a:ln w="12700">
            <a:solidFill>
              <a:srgbClr val="B441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229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SPA_M12 @ TMRX12：FAB15 異常 19%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SPA_M12 trend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67512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8221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SPA_M12 vs M12 CD AEI　r = -0.29，關聯性不大，預期負相關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023360"/>
            <a:ext cx="667512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325880"/>
            <a:ext cx="4553712" cy="49834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76200" tIns="76200" rIns="76200" bIns="7620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偏離固定值 20 V 的比例：FAB15 19% vs BSL 2.9%（+16.2%pt）· N 47 / 653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同層 M12 CD AEI +2.18σ 與 WAT 同向且 wafer 間有關聯 → 主因很可能是 CD 偏移。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F2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✔ M12 CD AEI +2.18σ 有關聯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F2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 ✔ V12_ETCH_CH：CH_A −0.21σ（CIP 57% 走 CH_A，n 27）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F2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✔ Bin3_short +1.29σ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M12 trench CD（AEI）→ 換算 space（M12 CD AEI +2.18σ 有關聯）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Post-CMP 缺陷掃描（Cu residue、bridge）（缺資料 → 匯入補進）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異常 wafer 的 die 位置是否集中（edge／特定 shot）（需要 by site 資料）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CMP clean recipe、low-k 製程（缺資料 → 匯入補進）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物理機制：</a:t>
            </a:r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金屬線 CD 偏大、space 變小；CMP 後 Cu 殘留、橋接（bridge）；Low-k 損傷（plasma damage、吸濕）；Barrier 擴散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HL｜SPA_M13 @ TMRX12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橘燈　+8.0%pt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2296" cy="384048"/>
          </a:xfrm>
          <a:prstGeom prst="rect">
            <a:avLst/>
          </a:prstGeom>
          <a:solidFill>
            <a:srgbClr val="B4410A"/>
          </a:solidFill>
          <a:ln w="12700">
            <a:solidFill>
              <a:srgbClr val="B441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229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SPA_M13 @ TMRX12：FAB15 異常 11%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SPA_M13 trend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67512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8221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SPA_M13 vs M13 CD AEI　r = -0.20，關聯性不大，預期負相關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023360"/>
            <a:ext cx="667512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325880"/>
            <a:ext cx="4553712" cy="49834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76200" tIns="76200" rIns="76200" bIns="7620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偏離固定值 20 V 的比例：FAB15 11% vs BSL 2.6%（+8.0%pt）· N 47 / 653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同層 M13 CD AEI +0.66σ 與 WAT 同向且 wafer 間有關聯 → 主因很可能是 CD 偏移。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F2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✔ M13 CD AEI +0.66σ 有關聯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鄰層 ✘ M12 THK +0.22σ 未偏移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 ✘ 3 個機台欄皆無集中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F2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✔ Bin3_short +1.29σ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M13 trench CD（AEI）→ 換算 space（M13 CD AEI +0.66σ 有關聯）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Post-CMP 缺陷掃描（Cu residue、bridge）（缺資料 → 匯入補進）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異常 wafer 的 die 位置是否集中（edge／特定 shot）（需要 by site 資料）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CMP clean recipe、low-k 製程（缺資料 → 匯入補進）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物理機制：</a:t>
            </a:r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金屬線 CD 偏大、space 變小；CMP 後 Cu 殘留、橋接（bridge）；Low-k 損傷（plasma damage、吸濕）；Barrier 擴散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HL｜Rc_V12 @ TMTQ11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橘燈　+2.33σ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2296" cy="384048"/>
          </a:xfrm>
          <a:prstGeom prst="rect">
            <a:avLst/>
          </a:prstGeom>
          <a:solidFill>
            <a:srgbClr val="B4410A"/>
          </a:solidFill>
          <a:ln w="12700">
            <a:solidFill>
              <a:srgbClr val="B441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229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Rc_V12 @ TMTQ11：FAB15 K +2.33σ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Rc_V12 trend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67512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8221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Rc_V12 vs V12 CD AEI　r = -0.84，有關聯，預期負相關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023360"/>
            <a:ext cx="667512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325880"/>
            <a:ext cx="4553712" cy="49834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76200" tIns="76200" rIns="76200" bIns="7620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FAB15 mean 10.18 vs BSL 9.009 OHM（+13.0%） · N 80 / 836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同層 V12 CD AEI −2.79σ（r = −0.84） 與 WAT 同向且 wafer 間有關聯 → 主因很可能是 Via CD 偏移。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F2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✔ V12 CD AEI −2.79σ（r = −0.84） 有關聯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鄰層 ✘ M12 THK +0.26σ、M13 THK −0.25σ… 未偏移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F2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 ✔ V12_ETCH_CH：CH_B +3.55σ（CIP 50% 走 CH_B，n 40）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F2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✔ Yield −1.29σ、Bin7_open +2.25σ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V12 via CD（ADI／AEI）（V12 CD AEI −2.79σ，r = −0.84 有關聯）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Via etch chamber、wet clean 條件（疑似 V12_ETCH_CH = CH_B）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Barrier PVD 厚度（缺資料 → 匯入補進）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V12 overlay（缺資料 → 匯入補進）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物理機制：</a:t>
            </a:r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Via CD 偏小（底部接觸面積變小）；Via 底部殘留（polymer、etch stop 未開完全）；Barrier／liner 偏厚；Via 與下層金屬對準偏移（overlay）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總覽 Trend（1/3）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 = BSL FAB18；彩色 = CIP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TMRF89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87368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TMRX12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65976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TMTQ11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44584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TMWF54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133856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Con_M12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OHM/SQ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536192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63624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−0.57σ  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380744"/>
            <a:ext cx="2450592" cy="117202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114800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42232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−0.88σ  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376" y="1380744"/>
            <a:ext cx="2450592" cy="117202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693408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0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−0.29σ  </a:t>
            </a:r>
            <a:endParaRPr lang="en-US" sz="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1380744"/>
            <a:ext cx="2450592" cy="117202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272016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299448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+0.22σ  </a:t>
            </a:r>
            <a:endParaRPr lang="en-US" sz="9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1380744"/>
            <a:ext cx="2450592" cy="117202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74320" y="2944368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Con_M13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OHM/SQ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1536192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563624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+0.38σ  </a:t>
            </a:r>
            <a:endParaRPr lang="en-US" sz="9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768" y="3191256"/>
            <a:ext cx="2450592" cy="117202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4114800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142232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−0.35σ  </a:t>
            </a:r>
            <a:endParaRPr lang="en-US" sz="9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376" y="3191256"/>
            <a:ext cx="2450592" cy="117202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693408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720840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+0.13σ  </a:t>
            </a:r>
            <a:endParaRPr lang="en-US" sz="9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3191256"/>
            <a:ext cx="2450592" cy="117202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9272016" y="2944368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5A00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9299448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+1.38σ  </a:t>
            </a:r>
            <a:endParaRPr lang="en-US" sz="9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8592" y="3191256"/>
            <a:ext cx="2450592" cy="117202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274320" y="4754880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LK_M12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A・log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1536192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1563624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×1.19  </a:t>
            </a:r>
            <a:endParaRPr lang="en-US" sz="95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2768" y="5001768"/>
            <a:ext cx="2450592" cy="1172022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4114800" y="4754880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5A00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4142232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×2.96  </a:t>
            </a:r>
            <a:endParaRPr lang="en-US" sz="95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1376" y="5001768"/>
            <a:ext cx="2450592" cy="117202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693408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6720840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×0.92  </a:t>
            </a:r>
            <a:endParaRPr lang="en-US" sz="95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9984" y="5001768"/>
            <a:ext cx="2450592" cy="1172022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9272016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8" name="Text 35"/>
          <p:cNvSpPr/>
          <p:nvPr/>
        </p:nvSpPr>
        <p:spPr>
          <a:xfrm>
            <a:off x="9299448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×0.99  </a:t>
            </a:r>
            <a:endParaRPr lang="en-US" sz="95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08592" y="5001768"/>
            <a:ext cx="2450592" cy="11720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總覽 Trend（2/3）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 = BSL FAB18；彩色 = CIP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8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TMRF89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87368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TMRX12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65976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TMTQ11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44584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TMWF54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133856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LK_M13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A・log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536192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63624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×0.71  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380744"/>
            <a:ext cx="2450592" cy="117202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114800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42232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×1.36  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376" y="1380744"/>
            <a:ext cx="2450592" cy="117202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693408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0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×1.20  </a:t>
            </a:r>
            <a:endParaRPr lang="en-US" sz="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1380744"/>
            <a:ext cx="2450592" cy="117202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272016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299448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×1.12  </a:t>
            </a:r>
            <a:endParaRPr lang="en-US" sz="9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1380744"/>
            <a:ext cx="2450592" cy="117202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74320" y="2944368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Rc_V11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OHM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1536192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563624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−0.43σ  </a:t>
            </a:r>
            <a:endParaRPr lang="en-US" sz="9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768" y="3191256"/>
            <a:ext cx="2450592" cy="117202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4114800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142232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+0.29σ  </a:t>
            </a:r>
            <a:endParaRPr lang="en-US" sz="9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376" y="3191256"/>
            <a:ext cx="2450592" cy="117202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693408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720840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+0.26σ  </a:t>
            </a:r>
            <a:endParaRPr lang="en-US" sz="9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3191256"/>
            <a:ext cx="2450592" cy="117202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9272016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9299448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−0.10σ  </a:t>
            </a:r>
            <a:endParaRPr lang="en-US" sz="9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8592" y="3191256"/>
            <a:ext cx="2450592" cy="117202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274320" y="4754880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Rc_V12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OHM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1536192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1563624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−0.08σ  </a:t>
            </a:r>
            <a:endParaRPr lang="en-US" sz="95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2768" y="5001768"/>
            <a:ext cx="2450592" cy="1172022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4114800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4142232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−0.31σ  </a:t>
            </a:r>
            <a:endParaRPr lang="en-US" sz="95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1376" y="5001768"/>
            <a:ext cx="2450592" cy="117202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693408" y="4754880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B4410A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6720840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4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+2.33σ  </a:t>
            </a:r>
            <a:endParaRPr lang="en-US" sz="95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9984" y="5001768"/>
            <a:ext cx="2450592" cy="1172022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9272016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8" name="Text 35"/>
          <p:cNvSpPr/>
          <p:nvPr/>
        </p:nvSpPr>
        <p:spPr>
          <a:xfrm>
            <a:off x="9299448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−0.09σ  </a:t>
            </a:r>
            <a:endParaRPr lang="en-US" sz="95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08592" y="5001768"/>
            <a:ext cx="2450592" cy="11720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總覽 Trend（3/3）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 = BSL FAB18；彩色 = CIP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TMRF89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87368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TMRX12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65976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TMTQ11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44584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TMWF54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133856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SPA_M12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V・固定值 20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536192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63624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−0.8%pt  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380744"/>
            <a:ext cx="2450592" cy="117202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114800" y="1133856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B4410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42232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4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+16.2%pt  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376" y="1380744"/>
            <a:ext cx="2450592" cy="117202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693408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0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−1.7%pt  </a:t>
            </a:r>
            <a:endParaRPr lang="en-US" sz="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1380744"/>
            <a:ext cx="2450592" cy="117202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272016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299448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−0.3%pt  </a:t>
            </a:r>
            <a:endParaRPr lang="en-US" sz="9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1380744"/>
            <a:ext cx="2450592" cy="117202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74320" y="2944368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SPA_M13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V・固定值 20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1536192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563624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8A2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 </a:t>
            </a:r>
            <a:endParaRPr lang="en-US" sz="9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768" y="3191256"/>
            <a:ext cx="2450592" cy="117202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4114800" y="2944368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B4410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142232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4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+8.0%pt  </a:t>
            </a:r>
            <a:endParaRPr lang="en-US" sz="9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376" y="3191256"/>
            <a:ext cx="2450592" cy="117202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693408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720840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−0.8%pt  </a:t>
            </a:r>
            <a:endParaRPr lang="en-US" sz="9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3191256"/>
            <a:ext cx="2450592" cy="117202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9272016" y="2944368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5A00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9299448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+2.9%pt  </a:t>
            </a:r>
            <a:endParaRPr lang="en-US" sz="9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8592" y="3191256"/>
            <a:ext cx="2450592" cy="11720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點燈表（均值 K-shift）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Part6 分組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10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7772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463040"/>
                <a:gridCol w="146304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Inline item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Part6 →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TMRF89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TMRX12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TMTQ11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TMWF54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CD（inline）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+0.51σ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41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+2.18σ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−0.10σ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+0.07σ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M13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−0.86σ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+0.66σ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+0.39σ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+0.20σ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Via CD（inline）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V11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+0.19σ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−0.28σ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−0.29σ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−0.04σ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V12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+0.02σ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+0.38σ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41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−2.79σ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+0.15σ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THK（inline）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THK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+0.46σ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+0.22σ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+0.26σ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−0.21σ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M13 THK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−0.22σ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+0.26σ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−0.25σ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41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−1.63σ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58200" y="868680"/>
            <a:ext cx="3364992" cy="1371600"/>
          </a:xfrm>
          <a:prstGeom prst="roundRect">
            <a:avLst>
              <a:gd name="adj" fmla="val 666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941832"/>
            <a:ext cx="3090672" cy="1225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441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— 需關注（3）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 CD AEI @ TMTQ11 · M12 CD AEI @ TMRX12 · M13 THK @ TMWF54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458200" y="2377440"/>
            <a:ext cx="3364992" cy="1371600"/>
          </a:xfrm>
          <a:prstGeom prst="roundRect">
            <a:avLst>
              <a:gd name="adj" fmla="val 6667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0" y="2450592"/>
            <a:ext cx="3090672" cy="1225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 — 觀察（2）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 CD AEI @ TMTQ11 · M12 CD AEI @ TMWF54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458200" y="3886200"/>
            <a:ext cx="3364992" cy="137160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0" y="3959352"/>
            <a:ext cx="3090672" cy="1225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讀法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TMRX12 佔 1 格異常，集中在 M12 → 先看這一組的 HL 與同層 inline。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5760" y="426110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 = K-shift（σ）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變異比較（W2W／WIW σ 倍數）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Part6 分組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11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08276" y="868680"/>
          <a:ext cx="7772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463040"/>
                <a:gridCol w="146304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Inline item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Part6 →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TMRF89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TMRX12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TMTQ11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TMWF54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CD（inline）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×0.79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×1.00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×0.78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×1.42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M13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×0.65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×1.01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×0.67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×0.92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Via CD（inline）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V11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×0.78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×1.02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×0.92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×0.97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V12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×0.59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×0.95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×1.46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×1.00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THK（inline）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THK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×0.49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×0.79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×0.76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×0.92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M13 THK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×0.67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×0.99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×0.57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×0.72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26110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σ 倍數 = CIP ÷ BSL；綠 ≤ ×1.3、黃 ×1.3–1.6、橘 &gt; ×1.6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HL 總表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有關聯　△ 弱／部分　✘ 未對上　○ 缺資料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12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1145743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011680"/>
                <a:gridCol w="822960"/>
                <a:gridCol w="2962656"/>
                <a:gridCol w="2962656"/>
                <a:gridCol w="21945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Inline item @ 組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偏移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WAT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441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橘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V12 CD AEI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@ TMTQ11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41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−2.79σ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Rc_V12 +2.33σ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V12_ETCH_CH：CH_B −3.95σ（CIP 47% 走 CH_B，n 21）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 V12 ADI CD（分辨是 litho 還是 etch）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441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橘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CD AEI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@ TMRX12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41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+2.18σ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LK_M12 ×2.96、SPA_M12 +16.2%pt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△ V12_ETCH_CH 2/2 台皆偏（非 tool-specific）→ 查上游製程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 M12 ADI CD（分辨是 litho 還是 etch）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441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橘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M13 THK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@ TMWF54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41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−1.63σ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Con_M13 +1.38σ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△ M13_ETCH_CH 3/3 台皆偏（非 tool-specific）→ 查上游製程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✘ M13 CMP 機台、pad life、slurry lot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黃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V12 CD AEI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@ TMTQ11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5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σ ×1.46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 無 V12 WAT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V12_ETCH_CH：CH_B −3.95σ（CIP 47% 走 CH_B，n 21）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依 chamber／機台分組比較 CIP wafer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黃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CD AEI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@ TMWF54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5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σ ×1.42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○ 無 M12 WAT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✘ 3 個機台欄皆無集中（M12_CMP_Tool 與條件混淆）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✘ 依 chamber／機台分組比較 CIP wafer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HL｜V12 CD AEI @ TMTQ11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橘燈　−2.79σ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2296" cy="384048"/>
          </a:xfrm>
          <a:prstGeom prst="rect">
            <a:avLst/>
          </a:prstGeom>
          <a:solidFill>
            <a:srgbClr val="B4410A"/>
          </a:solidFill>
          <a:ln w="12700">
            <a:solidFill>
              <a:srgbClr val="B441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229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 CD AEI @ TMTQ11：FAB15 K −2.79σ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 CD AEI trend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67512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8221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Rc_V12 vs V12 CD AEI　r = -0.84，預期負相關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023360"/>
            <a:ext cx="667512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325880"/>
            <a:ext cx="4553712" cy="49834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76200" tIns="76200" rIns="76200" bIns="7620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FAB15 mean 43.03 vs BSL 45.91 nm（-6.3%） · N 45 / 498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WAT 的預期影響：Rc_V12 預期上升 → 目前已同向偏移（K +2.33σ）。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F2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✔ Rc_V12 +2.33σ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F2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 ✔ V12_ETCH_CH：CH_B −3.95σ（CIP 47% 走 CH_B，n 21）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V12 ADI CD（分辨是 litho 還是 etch）（缺資料 → 匯入補進）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Via etch chamber、polymer／clean 條件（疑似 V12_ETCH_CH = CH_B）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Via 截面 TEM（底部 CD）（缺資料 → 匯入補進）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物理機制：</a:t>
            </a:r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Via litho dose 不足／focus 偏移；Via etch 不足（polymer 偏多、etch stop 未開）；Via 底部 taper 變大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HL｜M12 CD AEI @ TMRX12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橘燈　+2.18σ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2296" cy="384048"/>
          </a:xfrm>
          <a:prstGeom prst="rect">
            <a:avLst/>
          </a:prstGeom>
          <a:solidFill>
            <a:srgbClr val="B4410A"/>
          </a:solidFill>
          <a:ln w="12700">
            <a:solidFill>
              <a:srgbClr val="B441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229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CD AEI @ TMRX12：FAB15 K +2.18σ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CD AEI trend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67512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8221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Con_M12 vs M12 CD AEI　r = -0.47，預期負相關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023360"/>
            <a:ext cx="667512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325880"/>
            <a:ext cx="4553712" cy="49834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76200" tIns="76200" rIns="76200" bIns="7620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FAB15 mean 50.32 vs BSL 48.01 nm（+4.8%） · N 28 / 386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WAT 的預期影響：Con_M12 預期下降 → 目前尚在綠燈；LK_M12 預期上升 → 目前已同向偏移（×2.96）；SPA_M12 預期上升 → 目前已同向偏移（異常 19%）。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F2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✔ LK_M12 ×2.96、SPA_M12 +16.2%pt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A3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 △ V12_ETCH_CH 2/2 台皆偏（非 tool-specific）→ 查上游製程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M12 ADI CD（分辨是 litho 還是 etch）（缺資料 → 匯入補進）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Trench etch chamber、bias（已掃 3 個欄位，沒有明顯 bad tool）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Scanner dose／focus log（缺資料 → 匯入補進）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物理機制：</a:t>
            </a:r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Trench litho dose／focus 偏移；Trench etch bias 變大；Hardmask 開口偏大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HL｜M13 THK @ TMWF54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橘燈　−1.63σ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2296" cy="384048"/>
          </a:xfrm>
          <a:prstGeom prst="rect">
            <a:avLst/>
          </a:prstGeom>
          <a:solidFill>
            <a:srgbClr val="B4410A"/>
          </a:solidFill>
          <a:ln w="12700">
            <a:solidFill>
              <a:srgbClr val="B441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229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M13 THK @ TMWF54：FAB15 K −1.63σ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M13 THK trend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67512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8221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Con_M13 vs M13 THK　r = -0.87，預期負相關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023360"/>
            <a:ext cx="667512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325880"/>
            <a:ext cx="4553712" cy="49834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76200" tIns="76200" rIns="76200" bIns="7620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FAB15 mean 1443 vs BSL 1502 A（-3.9%） · N 136 / 598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WAT 的預期影響：Con_M13 預期上升 → 目前已同向偏移（K +1.38σ）。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F2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✔ Con_M13 +1.38σ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7A3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 △ M13_ETCH_CH 3/3 台皆偏（非 tool-specific）→ 查上游製程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AA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 M13 CMP 機台、pad life、slurry lot（已掃 3 個欄位，沒有明顯 bad tool）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M13 dishing／erosion 監控（缺資料 → 匯入補進）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Trench depth（etch）（缺資料 → 匯入補進）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物理機制：</a:t>
            </a:r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CMP 過拋（pad life 末期、slurry 變化）；Dishing／erosion；Trench 深度偏淺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總覽 Trend（1/2）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 = BSL FAB18；彩色 = CIP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TMRF89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87368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TMRX12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65976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TMTQ11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44584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TMWF54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133856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CD AEI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536192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63624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+0.51σ  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380744"/>
            <a:ext cx="2450592" cy="117202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114800" y="1133856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B4410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42232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4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+2.18σ  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376" y="1380744"/>
            <a:ext cx="2450592" cy="117202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693408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0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−0.10σ  </a:t>
            </a:r>
            <a:endParaRPr lang="en-US" sz="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1380744"/>
            <a:ext cx="2450592" cy="117202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272016" y="1133856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5A0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299448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+0.07σ  </a:t>
            </a:r>
            <a:endParaRPr lang="en-US" sz="9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1380744"/>
            <a:ext cx="2450592" cy="117202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74320" y="2944368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M13 CD AEI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nm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1536192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563624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−0.86σ  </a:t>
            </a:r>
            <a:endParaRPr lang="en-US" sz="9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768" y="3191256"/>
            <a:ext cx="2450592" cy="117202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4114800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142232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+0.66σ  </a:t>
            </a:r>
            <a:endParaRPr lang="en-US" sz="9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376" y="3191256"/>
            <a:ext cx="2450592" cy="117202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693408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720840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+0.39σ  </a:t>
            </a:r>
            <a:endParaRPr lang="en-US" sz="9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3191256"/>
            <a:ext cx="2450592" cy="117202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9272016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9299448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+0.20σ  </a:t>
            </a:r>
            <a:endParaRPr lang="en-US" sz="9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8592" y="3191256"/>
            <a:ext cx="2450592" cy="117202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274320" y="4754880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V11 CD AEI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nm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1536192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1563624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+0.19σ  </a:t>
            </a:r>
            <a:endParaRPr lang="en-US" sz="95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2768" y="5001768"/>
            <a:ext cx="2450592" cy="1172022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4114800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4142232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−0.28σ  </a:t>
            </a:r>
            <a:endParaRPr lang="en-US" sz="95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1376" y="5001768"/>
            <a:ext cx="2450592" cy="117202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693408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6720840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−0.29σ  </a:t>
            </a:r>
            <a:endParaRPr lang="en-US" sz="95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9984" y="5001768"/>
            <a:ext cx="2450592" cy="1172022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9272016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8" name="Text 35"/>
          <p:cNvSpPr/>
          <p:nvPr/>
        </p:nvSpPr>
        <p:spPr>
          <a:xfrm>
            <a:off x="9299448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−0.04σ  </a:t>
            </a:r>
            <a:endParaRPr lang="en-US" sz="95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08592" y="5001768"/>
            <a:ext cx="2450592" cy="11720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總覽 Trend（2/2）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 = BSL FAB18；彩色 = CIP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TMRF89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87368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TMRX12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65976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TMTQ11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44584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TMWF54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133856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 CD AEI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536192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63624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+0.02σ  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380744"/>
            <a:ext cx="2450592" cy="117202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114800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42232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+0.38σ  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376" y="1380744"/>
            <a:ext cx="2450592" cy="117202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693408" y="1133856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B4410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0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4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−2.79σ  </a:t>
            </a:r>
            <a:endParaRPr lang="en-US" sz="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1380744"/>
            <a:ext cx="2450592" cy="117202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272016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299448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+0.15σ  </a:t>
            </a:r>
            <a:endParaRPr lang="en-US" sz="9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1380744"/>
            <a:ext cx="2450592" cy="117202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74320" y="2944368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THK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1536192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563624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+0.46σ  </a:t>
            </a:r>
            <a:endParaRPr lang="en-US" sz="9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768" y="3191256"/>
            <a:ext cx="2450592" cy="117202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4114800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142232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+0.22σ  </a:t>
            </a:r>
            <a:endParaRPr lang="en-US" sz="9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376" y="3191256"/>
            <a:ext cx="2450592" cy="117202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693408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720840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+0.26σ  </a:t>
            </a:r>
            <a:endParaRPr lang="en-US" sz="9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3191256"/>
            <a:ext cx="2450592" cy="117202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9272016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9299448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−0.21σ  </a:t>
            </a:r>
            <a:endParaRPr lang="en-US" sz="9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8592" y="3191256"/>
            <a:ext cx="2450592" cy="117202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274320" y="4754880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M13 THK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1536192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1563624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−0.22σ  </a:t>
            </a:r>
            <a:endParaRPr lang="en-US" sz="95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2768" y="5001768"/>
            <a:ext cx="2450592" cy="1172022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4114800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4142232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+0.26σ  </a:t>
            </a:r>
            <a:endParaRPr lang="en-US" sz="95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1376" y="5001768"/>
            <a:ext cx="2450592" cy="117202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693408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6720840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−0.25σ  </a:t>
            </a:r>
            <a:endParaRPr lang="en-US" sz="95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9984" y="5001768"/>
            <a:ext cx="2450592" cy="1172022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9272016" y="4754880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B4410A"/>
            </a:solidFill>
            <a:prstDash val="solid"/>
          </a:ln>
        </p:spPr>
      </p:sp>
      <p:sp>
        <p:nvSpPr>
          <p:cNvPr id="48" name="Text 35"/>
          <p:cNvSpPr/>
          <p:nvPr/>
        </p:nvSpPr>
        <p:spPr>
          <a:xfrm>
            <a:off x="9299448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4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−1.63σ  </a:t>
            </a:r>
            <a:endParaRPr lang="en-US" sz="95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08592" y="5001768"/>
            <a:ext cx="2450592" cy="117202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點燈表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Part6 分組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18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7772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463040"/>
                <a:gridCol w="146304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Yield item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Part6 →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TMRF89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TMRX12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TMTQ11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TMWF54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Yield（CP 良率）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Yield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−0.12σ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−0.44σ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−1.29σ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+0.01σ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CP bin（失效比例）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Bin3_short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+0.17σ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A5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+1.29σ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−0.05σ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+0.08σ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Bin7_open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−0.19σ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−0.25σ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41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+2.25σ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−0.07σ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58200" y="868680"/>
            <a:ext cx="3364992" cy="1371600"/>
          </a:xfrm>
          <a:prstGeom prst="roundRect">
            <a:avLst>
              <a:gd name="adj" fmla="val 666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941832"/>
            <a:ext cx="3090672" cy="1225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441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— 需關注（1）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Bin7_open @ TMTQ11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458200" y="2377440"/>
            <a:ext cx="3364992" cy="1371600"/>
          </a:xfrm>
          <a:prstGeom prst="roundRect">
            <a:avLst>
              <a:gd name="adj" fmla="val 6667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0" y="2450592"/>
            <a:ext cx="3090672" cy="1225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 — 觀察（2）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@ TMTQ11 · Bin3_short @ TMRX12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458200" y="3886200"/>
            <a:ext cx="3364992" cy="137160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0" y="3959352"/>
            <a:ext cx="3090672" cy="12252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讀法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TMTQ11 佔 2 格異常，集中在 — → 先看這一組的 HL 與同層 inline。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5760" y="3017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 = K-shift（σ）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HL 總表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有關聯　△ 弱／部分　✘ 未對上　○ 缺資料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19</a:t>
            </a:r>
            <a:endParaRPr lang="en-US" sz="8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1145743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011680"/>
                <a:gridCol w="822960"/>
                <a:gridCol w="2962656"/>
                <a:gridCol w="2962656"/>
                <a:gridCol w="21945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Yield item @ 組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偏移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WAT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441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橘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Bin7_open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@ TMTQ11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410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+2.25σ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Rc_V12 K +2.33σ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V12_ETCH_CH：CH_B +3.58σ（CIP 50% 走 CH_B，n 40）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同組 WAT 戰報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黃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Yield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@ TMTQ11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5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−1.29σ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Rc_V12 K +2.33σ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V12_ETCH_CH：CH_B −1.98σ（CIP 50% 走 CH_B，n 40）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同組 WAT 戰報：LK／SPA／Rc／Rs 是否亮燈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A5A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黃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Bin3_short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@ TMRX12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5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+1.29σ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LK_M12 ×2.96、SPA_M12 異常 19%、SPA_M13 異常 11%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✘ 3 個機台欄皆無集中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同組 WAT 戰報</a:t>
                      </a:r>
                      <a:endParaRPr lang="en-US" sz="9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HL｜Bin7_open @ TMTQ11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橘燈　+2.25σ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20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2296" cy="384048"/>
          </a:xfrm>
          <a:prstGeom prst="rect">
            <a:avLst/>
          </a:prstGeom>
          <a:solidFill>
            <a:srgbClr val="B4410A"/>
          </a:solidFill>
          <a:ln w="12700">
            <a:solidFill>
              <a:srgbClr val="B441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229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Bin7_open @ TMTQ11：FAB15 K +2.25σ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Bin7_open trend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67512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8221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Rc_V12 vs Bin7_open　r = 0.92，預期正相關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023360"/>
            <a:ext cx="667512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325880"/>
            <a:ext cx="4553712" cy="49834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76200" tIns="76200" rIns="76200" bIns="7620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FAB15 mean 2.817 vs BSL 1.042 %（+170.5%） · N 80 / 836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同組 WAT 異常：Rc_V12 K +2.33σ → 良率變化可能與via 開路或高阻相關，建議先看這些 item 的 HL。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F2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✔ Rc_V12 K +2.33σ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F2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 ✔ V12_ETCH_CH：CH_B +3.58σ（CIP 50% 走 CH_B，n 40）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同組 WAT 戰報（Rc_V12 +2.33σ，r = 0.92）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Wafer map 空間特徵（需要 by site 資料）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缺陷掃描（缺資料 → 匯入補進）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物理機制：</a:t>
            </a:r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short bin ↔ 線間漏電（LK、SPA、VBD）；open bin ↔ via／線路高阻（Rc、Rs）；缺陷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HL｜Yield @ TMTQ11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黃燈　−1.29σ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21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2296" cy="384048"/>
          </a:xfrm>
          <a:prstGeom prst="rect">
            <a:avLst/>
          </a:prstGeom>
          <a:solidFill>
            <a:srgbClr val="8A5A00"/>
          </a:solidFill>
          <a:ln w="12700">
            <a:solidFill>
              <a:srgbClr val="8A5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229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@ TMTQ11：FAB15 K −1.29σ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trend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67512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8221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Rc_V12 vs Yield　r = -0.62，預期負相關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023360"/>
            <a:ext cx="667512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325880"/>
            <a:ext cx="4553712" cy="49834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76200" tIns="76200" rIns="76200" bIns="7620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FAB15 mean 92.2 vs BSL 93.96 %（-1.9%） · N 80 / 836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同組 WAT 異常：Rc_V12 K +2.33σ → 良率變化可能與via 開路或高阻相關，建議先看這些 item 的 HL。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F2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✔ Rc_V12 K +2.33σ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F2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 ✔ V12_ETCH_CH：CH_B −1.98σ（CIP 50% 走 CH_B，n 40）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同組 WAT 戰報：LK／SPA／Rc／Rs 是否亮燈（Rc_V12 +2.33σ，r = −0.62）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CP bin 分布：short bin 或 open bin（Yield −1.29σ，r = 1.00 有關聯）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Wafer map 空間特徵（edge、特定 shot、scratch）（需要 by site 資料）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➜ 缺陷掃描與 inline 對照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物理機制：</a:t>
            </a:r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線間漏電／短路（對應 LK、SPA、VBD 惡化）；Via 開路或高阻（對應 Rc 惡化）；金屬線斷路／高阻（對應 Rs 惡化）；缺陷（particle、scratch）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HL｜Bin3_short @ TMRX12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黃燈　+1.29σ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22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2296" cy="384048"/>
          </a:xfrm>
          <a:prstGeom prst="rect">
            <a:avLst/>
          </a:prstGeom>
          <a:solidFill>
            <a:srgbClr val="8A5A00"/>
          </a:solidFill>
          <a:ln w="12700">
            <a:solidFill>
              <a:srgbClr val="8A5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229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Bin3_short @ TMRX12：FAB15 K +1.29σ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Bin3_short trend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67512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8221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LK_M12 vs Bin3_short　r = 0.79，預期正相關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023360"/>
            <a:ext cx="667512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325880"/>
            <a:ext cx="4553712" cy="49834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76200" tIns="76200" rIns="76200" bIns="7620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FAB15 mean 2.492 vs BSL 1.52 %（+64.0%） · N 47 / 653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同組 WAT 異常：LK_M12 ×2.96、SPA_M12 異常 19%、SPA_M13 異常 11% → 良率變化可能與線間漏電／短路相關，建議先看這些 item 的 HL。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F2A3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✔ LK_M12 ×2.96、SPA_M12 異常 19%、SPA_M13 異常 11%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 ✘ 3 個機台欄皆無集中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 同組 WAT 戰報（LK_M12 ×2.96，r = 0.79）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Wafer map 空間特徵（需要 by site 資料）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缺陷掃描（缺資料 → 匯入補進）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95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物理機制：</a:t>
            </a:r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short bin ↔ 線間漏電（LK、SPA、VBD）；open bin ↔ via／線路高阻（Rc、Rs）；缺陷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 總覽 Trend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 = BSL FAB18；彩色 = CIP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23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TMRF89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87368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TMRX12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65976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TMTQ11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44584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TMWF54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133856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Yield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536192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63624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−0.12σ  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380744"/>
            <a:ext cx="2450592" cy="117202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114800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42232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−0.44σ  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376" y="1380744"/>
            <a:ext cx="2450592" cy="117202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693408" y="1133856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5A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0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−1.29σ  </a:t>
            </a:r>
            <a:endParaRPr lang="en-US" sz="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1380744"/>
            <a:ext cx="2450592" cy="117202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272016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299448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+0.01σ  </a:t>
            </a:r>
            <a:endParaRPr lang="en-US" sz="9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1380744"/>
            <a:ext cx="2450592" cy="117202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74320" y="2944368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Bin3_short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%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1536192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563624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+0.17σ  </a:t>
            </a:r>
            <a:endParaRPr lang="en-US" sz="9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768" y="3191256"/>
            <a:ext cx="2450592" cy="117202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4114800" y="2944368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5A0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142232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+1.29σ  </a:t>
            </a:r>
            <a:endParaRPr lang="en-US" sz="9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376" y="3191256"/>
            <a:ext cx="2450592" cy="117202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693408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720840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−0.05σ  </a:t>
            </a:r>
            <a:endParaRPr lang="en-US" sz="9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3191256"/>
            <a:ext cx="2450592" cy="117202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9272016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9299448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+0.08σ  </a:t>
            </a:r>
            <a:endParaRPr lang="en-US" sz="9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8592" y="3191256"/>
            <a:ext cx="2450592" cy="117202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274320" y="4754880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Bin7_open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%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1536192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1563624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−0.19σ  </a:t>
            </a:r>
            <a:endParaRPr lang="en-US" sz="95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2768" y="5001768"/>
            <a:ext cx="2450592" cy="1172022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4114800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4142232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−0.25σ  </a:t>
            </a:r>
            <a:endParaRPr lang="en-US" sz="95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1376" y="5001768"/>
            <a:ext cx="2450592" cy="117202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693408" y="4754880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B4410A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6720840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4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+2.25σ  </a:t>
            </a:r>
            <a:endParaRPr lang="en-US" sz="95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9984" y="5001768"/>
            <a:ext cx="2450592" cy="1172022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9272016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8" name="Text 35"/>
          <p:cNvSpPr/>
          <p:nvPr/>
        </p:nvSpPr>
        <p:spPr>
          <a:xfrm>
            <a:off x="9299448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−0.07σ  </a:t>
            </a:r>
            <a:endParaRPr lang="en-US" sz="95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08592" y="5001768"/>
            <a:ext cx="2450592" cy="11720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分析戰報</dc:title>
  <dc:subject>PptxGenJS Presentation</dc:subject>
  <dc:creator>PptxGenJS</dc:creator>
  <cp:lastModifiedBy>PptxGenJS</cp:lastModifiedBy>
  <cp:revision>1</cp:revision>
  <dcterms:created xsi:type="dcterms:W3CDTF">2026-10-11T17:07:55Z</dcterms:created>
  <dcterms:modified xsi:type="dcterms:W3CDTF">2026-10-11T17:07:55Z</dcterms:modified>
</cp:coreProperties>
</file>